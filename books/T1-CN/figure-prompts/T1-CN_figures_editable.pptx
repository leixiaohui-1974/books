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</a:rPr>
              <a:t>图 1-4　CHS八原理层次关系图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Fig. 1-4 Hierarchical Structure of CHS Eight Principles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演进层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</a:rPr>
              <a:t>Evolution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26080" y="1069848"/>
            <a:ext cx="329184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069848"/>
            <a:ext cx="3291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P8 自主演进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</a:rPr>
              <a:t>Autonomous Evolution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智能层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B1FA2"/>
                </a:solidFill>
              </a:rPr>
              <a:t>Intelligence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11680" y="2167128"/>
            <a:ext cx="2468880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16712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P6 认知增强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1FA2"/>
                </a:solidFill>
              </a:rPr>
              <a:t>Cognitive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2167128"/>
            <a:ext cx="2468880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6712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P7 人机共融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1FA2"/>
                </a:solidFill>
              </a:rPr>
              <a:t>Human-Machine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37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验证层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</a:rPr>
              <a:t>Verification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0" y="3355848"/>
            <a:ext cx="402336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355848"/>
            <a:ext cx="4023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P5 在环验证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xIL (MIL/SIL/HIL)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434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架构层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565C0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011680" y="4453128"/>
            <a:ext cx="2468880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445312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P3 分层分布式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HDC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4453128"/>
            <a:ext cx="2468880" cy="832104"/>
          </a:xfrm>
          <a:prstGeom prst="roundRect">
            <a:avLst>
              <a:gd name="adj" fmla="val 6593"/>
            </a:avLst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45312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P4 安全包络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Safety Envelope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553212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6235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基础层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565C0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011680" y="5641848"/>
            <a:ext cx="2468880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564184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P1 传递函数化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Transfer Function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54880" y="5641848"/>
            <a:ext cx="2468880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564184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P2 可控可观性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Controllability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0" y="5413248"/>
            <a:ext cx="0" cy="-109728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0" y="4224528"/>
            <a:ext cx="0" cy="-109728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3127248"/>
            <a:ext cx="0" cy="-109728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0" y="1938528"/>
            <a:ext cx="0" cy="-109728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55280" y="1417320"/>
            <a:ext cx="0" cy="3840480"/>
          </a:xfrm>
          <a:prstGeom prst="line">
            <a:avLst/>
          </a:prstGeom>
          <a:noFill/>
          <a:ln w="38100">
            <a:solidFill>
              <a:srgbClr val="E53935"/>
            </a:solidFill>
            <a:prstDash val="lgDash"/>
          </a:ln>
        </p:spPr>
      </p:sp>
      <p:sp>
        <p:nvSpPr>
          <p:cNvPr id="34" name="Shape 32"/>
          <p:cNvSpPr/>
          <p:nvPr/>
        </p:nvSpPr>
        <p:spPr>
          <a:xfrm>
            <a:off x="7772400" y="1417320"/>
            <a:ext cx="182880" cy="18288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417320"/>
            <a:ext cx="182880" cy="18288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29260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安全约束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3935"/>
                </a:solidFill>
              </a:rPr>
              <a:t>Safety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3935"/>
                </a:solidFill>
              </a:rPr>
              <a:t>Constraint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6720840"/>
            <a:ext cx="457200" cy="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6629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层间依赖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286000" y="6720840"/>
            <a:ext cx="731520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lgDash"/>
          </a:ln>
        </p:spPr>
      </p:sp>
      <p:sp>
        <p:nvSpPr>
          <p:cNvPr id="40" name="Text 38"/>
          <p:cNvSpPr/>
          <p:nvPr/>
        </p:nvSpPr>
        <p:spPr>
          <a:xfrm>
            <a:off x="3108960" y="6629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P4安全约束 → P8演进上界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</a:rPr>
              <a:t>图 2-2　可控模型族的三层体系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Fig. 2-2 Three-Layer Controllable Model Family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rot="10800000">
            <a:off x="731520" y="4206240"/>
            <a:ext cx="7680960" cy="1645920"/>
          </a:xfrm>
          <a:prstGeom prst="trapezoid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4297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PBM 高保真物理模型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Physics-Based Model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Saint-Venant方程 · 维度~10³ · 离线仿真/数字孪生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0800000">
            <a:off x="1645920" y="2468880"/>
            <a:ext cx="5852160" cy="1554480"/>
          </a:xfrm>
          <a:prstGeom prst="trapezoid">
            <a:avLst/>
          </a:prstGeom>
          <a:solidFill>
            <a:srgbClr val="42A5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560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SM 简化模型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Simplified Model (IDZ)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维度~10¹ · 在线MPC优化控制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 rot="10800000">
            <a:off x="2560320" y="1005840"/>
            <a:ext cx="4023360" cy="1280160"/>
          </a:xfrm>
          <a:prstGeom prst="trapezoid">
            <a:avLst/>
          </a:prstGeom>
          <a:solidFill>
            <a:srgbClr val="90CA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051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7A1"/>
                </a:solidFill>
              </a:rPr>
              <a:t>OSEM 观测与状态估计模型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</a:rPr>
              <a:t>Observation &amp; State Estimation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65C0"/>
                </a:solidFill>
              </a:rPr>
              <a:t>参数校正 · 软测量 · 数据同化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 rot="16200000">
            <a:off x="-91440" y="2743200"/>
            <a:ext cx="548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物理保真度 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5400000">
            <a:off x="8686800" y="137160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计算效率 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降阶方法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</a:rPr>
              <a:t>Model Reduction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840480"/>
            <a:ext cx="457200" cy="-54864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1323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数据同化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Data Assimilation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2743200"/>
            <a:ext cx="365760" cy="-457200"/>
          </a:xfrm>
          <a:prstGeom prst="line">
            <a:avLst/>
          </a:prstGeom>
          <a:noFill/>
          <a:ln w="25400">
            <a:solidFill>
              <a:srgbClr val="42A5F5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三层模型通过降阶（PBM→SM）和数据同化（SM↔OSEM）形成闭环协作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</a:rPr>
              <a:t>图 6-4　在环验证深度与WNAL等级对应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Fig. 6-4 xIL Verification Depth vs. WNAL Level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194560" y="731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46120" y="731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0" y="731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49240" y="731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L3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731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52360" y="731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280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121"/>
                </a:solidFill>
              </a:rPr>
              <a:t>MIL</a:t>
            </a:r>
            <a:endParaRPr lang="en-US" sz="18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模型在环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121"/>
                </a:solidFill>
              </a:rPr>
              <a:t>SIL</a:t>
            </a:r>
            <a:endParaRPr lang="en-US" sz="18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软件在环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121"/>
                </a:solidFill>
              </a:rPr>
              <a:t>HIL</a:t>
            </a:r>
            <a:endParaRPr lang="en-US" sz="18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硬件在环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31136" y="122529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122529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BDBD"/>
                </a:solidFill>
              </a:rPr>
              <a:t>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2696" y="122529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BBDEFB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22529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推荐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</a:rPr>
              <a:t>Recom.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4256" y="122529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22529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85816" y="122529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22529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37376" y="122529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122529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88936" y="122529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122529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31136" y="241401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31136" y="241401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BDBD"/>
                </a:solidFill>
              </a:rPr>
              <a:t>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82696" y="241401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241401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BDBD"/>
                </a:solidFill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34256" y="241401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BBDEFB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4256" y="241401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推荐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</a:rPr>
              <a:t>Recom.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85816" y="241401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241401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7376" y="241401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241401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88936" y="241401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88936" y="241401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231136" y="360273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31136" y="360273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BDBD"/>
                </a:solidFill>
              </a:rPr>
              <a:t>—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82696" y="360273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360273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BDBD"/>
                </a:solidFill>
              </a:rPr>
              <a:t>—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34256" y="360273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4256" y="360273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BDBD"/>
                </a:solidFill>
              </a:rPr>
              <a:t>—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85816" y="360273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BBDEFB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360273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推荐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</a:rPr>
              <a:t>Recom.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37376" y="360273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7376" y="360273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88936" y="3602736"/>
            <a:ext cx="978408" cy="1115568"/>
          </a:xfrm>
          <a:prstGeom prst="roundRect">
            <a:avLst>
              <a:gd name="adj" fmla="val 5607"/>
            </a:avLst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88936" y="3602736"/>
            <a:ext cx="978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必须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49240" y="822960"/>
            <a:ext cx="0" cy="4206240"/>
          </a:xfrm>
          <a:prstGeom prst="line">
            <a:avLst/>
          </a:prstGeom>
          <a:noFill/>
          <a:ln w="38100">
            <a:solidFill>
              <a:srgbClr val="E53935"/>
            </a:solidFill>
            <a:prstDash val="lgDash"/>
          </a:ln>
        </p:spPr>
      </p:sp>
      <p:sp>
        <p:nvSpPr>
          <p:cNvPr id="49" name="Text 47"/>
          <p:cNvSpPr/>
          <p:nvPr/>
        </p:nvSpPr>
        <p:spPr>
          <a:xfrm>
            <a:off x="3520440" y="5166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← L2 / L3 质变节点 →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3935"/>
                </a:solidFill>
              </a:rPr>
              <a:t>Critical Threshold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14400" y="566928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/>
        </p:spPr>
      </p:sp>
      <p:sp>
        <p:nvSpPr>
          <p:cNvPr id="51" name="Text 49"/>
          <p:cNvSpPr/>
          <p:nvPr/>
        </p:nvSpPr>
        <p:spPr>
          <a:xfrm>
            <a:off x="1280160" y="5641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必须 Required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291840" y="566928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5641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推荐 Recommended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17920" y="566928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5641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不要求 N/A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</a:rPr>
              <a:t>图 7-1　WNAL水网自主等级阶梯图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Fig. 7-1 WNAL L0-L5 Water Network Autonomy Ladder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0"/>
            <a:ext cx="1143000" cy="1371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879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手动运行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577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人工观测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经验决策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3566160"/>
            <a:ext cx="1143000" cy="1920240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363931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74520" y="4069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规则自动化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Rule-Based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5577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固定规则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自动执行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1143000" cy="25603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9992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3429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模型优化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Model-Based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5577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MPC优化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人工监督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1143000" cy="3200400"/>
          </a:xfrm>
          <a:prstGeom prst="rect">
            <a:avLst/>
          </a:prstGeom>
          <a:solidFill>
            <a:srgbClr val="1565C0"/>
          </a:solidFill>
          <a:ln w="381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3591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条件自主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Conditional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5577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ODD内自主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安全降级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6172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近期目标 3-5年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1645920"/>
            <a:ext cx="1143000" cy="38404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71907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852160" y="2148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高度自主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 Auto.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5577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扩展ODD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自诊断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6172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中期 5-10年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1097280"/>
            <a:ext cx="1143000" cy="4389120"/>
          </a:xfrm>
          <a:prstGeom prst="rect">
            <a:avLst/>
          </a:prstGeom>
          <a:solidFill>
            <a:srgbClr val="FFF8E1">
              <a:alpha val="60000"/>
            </a:srgbClr>
          </a:solidFill>
          <a:ln w="38100">
            <a:solidFill>
              <a:srgbClr val="F9A825"/>
            </a:solidFill>
            <a:prstDash val="lgDash"/>
          </a:ln>
        </p:spPr>
      </p:sp>
      <p:sp>
        <p:nvSpPr>
          <p:cNvPr id="26" name="Text 24"/>
          <p:cNvSpPr/>
          <p:nvPr/>
        </p:nvSpPr>
        <p:spPr>
          <a:xfrm>
            <a:off x="7178040" y="11704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L5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78040" y="1600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完全自主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</a:rPr>
              <a:t>Full Auto.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5577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全工况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(长期愿景)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914400"/>
            <a:ext cx="0" cy="4663440"/>
          </a:xfrm>
          <a:prstGeom prst="line">
            <a:avLst/>
          </a:prstGeom>
          <a:noFill/>
          <a:ln w="38100">
            <a:solidFill>
              <a:srgbClr val="E53935"/>
            </a:solidFill>
            <a:prstDash val="lgDash"/>
          </a:ln>
        </p:spPr>
      </p:sp>
      <p:sp>
        <p:nvSpPr>
          <p:cNvPr id="30" name="Text 28"/>
          <p:cNvSpPr/>
          <p:nvPr/>
        </p:nvSpPr>
        <p:spPr>
          <a:xfrm>
            <a:off x="3794760" y="914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质变节点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3935"/>
                </a:solidFill>
              </a:rPr>
              <a:t>Critical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</a:rPr>
              <a:t>图 7-3　CHS八原理与WNAL等级映射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Fig. 7-3 Mapping of CHS Eight Principles to WNAL Levels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26080" y="594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794760" y="594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663440" y="594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32120" y="594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594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69480" y="594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L5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P1 传递函数化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53512" y="987552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98755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22192" y="987552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98755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90872" y="987552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98755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59552" y="987552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98755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28232" y="987552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98755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96912" y="987552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98755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P2 可控可观性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53512" y="1645920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1645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822192" y="1645920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1645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90872" y="1645920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1645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559552" y="1645920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1645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28232" y="1645920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1645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96912" y="1645920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64592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82880" y="2322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P3 分层分布式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953512" y="230428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2304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22192" y="230428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2304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690872" y="230428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2304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559552" y="2304288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2304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428232" y="2304288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2304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296912" y="2304288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230428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82880" y="29809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P4 安全包络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953512" y="2962656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3512" y="29626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822192" y="2962656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22192" y="29626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690872" y="2962656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0872" y="29626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559552" y="2962656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59552" y="29626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428232" y="2962656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29626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296912" y="2962656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96912" y="2962656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82880" y="36393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P5 在环验证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2953512" y="3621024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53512" y="362102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3822192" y="3621024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22192" y="362102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690872" y="3621024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90872" y="362102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5559552" y="3621024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59552" y="362102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6428232" y="3621024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28232" y="362102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7296912" y="3621024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96912" y="3621024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82880" y="4297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B1FA2"/>
                </a:solidFill>
              </a:rPr>
              <a:t>P6 认知增强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953512" y="4279392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53512" y="427939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3822192" y="4279392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22192" y="427939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4690872" y="4279392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90872" y="427939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5559552" y="4279392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59552" y="427939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6428232" y="4279392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28232" y="427939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7296912" y="4279392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96912" y="4279392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82880" y="49560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B1FA2"/>
                </a:solidFill>
              </a:rPr>
              <a:t>P7 人机共融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2953512" y="4937760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53512" y="4937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3822192" y="4937760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22192" y="4937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4690872" y="4937760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90872" y="4937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5559552" y="4937760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59552" y="4937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6428232" y="4937760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28232" y="4937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7296912" y="4937760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96912" y="4937760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82880" y="56144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P8 自主演进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2953512" y="559612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953512" y="559612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3822192" y="559612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22192" y="559612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4690872" y="559612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90872" y="559612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5559552" y="5596128"/>
            <a:ext cx="813816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559552" y="559612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BDBD"/>
                </a:solidFill>
              </a:rPr>
              <a:t>○</a:t>
            </a:r>
            <a:endParaRPr lang="en-US" sz="1800" dirty="0"/>
          </a:p>
        </p:txBody>
      </p:sp>
      <p:sp>
        <p:nvSpPr>
          <p:cNvPr id="109" name="Shape 107"/>
          <p:cNvSpPr/>
          <p:nvPr/>
        </p:nvSpPr>
        <p:spPr>
          <a:xfrm>
            <a:off x="6428232" y="5596128"/>
            <a:ext cx="813816" cy="603504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28232" y="559612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◐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7296912" y="5596128"/>
            <a:ext cx="813816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96912" y="5596128"/>
            <a:ext cx="813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5532120" y="685800"/>
            <a:ext cx="0" cy="5724144"/>
          </a:xfrm>
          <a:prstGeom prst="line">
            <a:avLst/>
          </a:prstGeom>
          <a:noFill/>
          <a:ln w="38100">
            <a:solidFill>
              <a:srgbClr val="E53935"/>
            </a:solidFill>
            <a:prstDash val="lgDash"/>
          </a:ln>
        </p:spPr>
      </p:sp>
      <p:sp>
        <p:nvSpPr>
          <p:cNvPr id="114" name="Text 112"/>
          <p:cNvSpPr/>
          <p:nvPr/>
        </p:nvSpPr>
        <p:spPr>
          <a:xfrm>
            <a:off x="4434840" y="6501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最小完备集分界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914400" y="6867144"/>
            <a:ext cx="228600" cy="182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6" name="Text 114"/>
          <p:cNvSpPr/>
          <p:nvPr/>
        </p:nvSpPr>
        <p:spPr>
          <a:xfrm>
            <a:off x="1188720" y="6839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● 必须完整实现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474720" y="6867144"/>
            <a:ext cx="228600" cy="182880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49040" y="6839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◐ 部分/基本形式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217920" y="6867144"/>
            <a:ext cx="228600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492240" y="6839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○ 不要求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T1-CN 关键插图（可编辑版）</dc:title>
  <dc:subject>PptxGenJS Presentation</dc:subject>
  <dc:creator>Lei Xiaohui</dc:creator>
  <cp:lastModifiedBy>Lei Xiaohui</cp:lastModifiedBy>
  <cp:revision>1</cp:revision>
  <dcterms:created xsi:type="dcterms:W3CDTF">2026-02-24T10:17:16Z</dcterms:created>
  <dcterms:modified xsi:type="dcterms:W3CDTF">2026-02-24T10:17:16Z</dcterms:modified>
</cp:coreProperties>
</file>